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oso_Brand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ontoso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237744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103120"/>
            <a:ext cx="7315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Segoe UI Semibold"/>
              </a:rPr>
              <a:t>Fargo expansion: where we stand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FFFFFF"/>
                </a:solidFill>
                <a:latin typeface="Segoe UI"/>
              </a:rPr>
              <a:t>Operations update · Week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3D91"/>
                </a:solidFill>
                <a:latin typeface="Segoe UI Semibold"/>
              </a:rPr>
              <a:t>We are on track for go-live on Jun 22</a:t>
            </a:r>
          </a:p>
        </p:txBody>
      </p:sp>
      <p:pic>
        <p:nvPicPr>
          <p:cNvPr id="4" name="Picture 3" descr="Contos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6172200"/>
            <a:ext cx="1371600" cy="4114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182880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6600" b="1">
                <a:solidFill>
                  <a:srgbClr val="0B3D91"/>
                </a:solidFill>
                <a:latin typeface="Segoe UI Semibold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291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2B2B2B"/>
                </a:solidFill>
                <a:latin typeface="Segoe UI"/>
              </a:rPr>
              <a:t>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94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Segoe UI"/>
              </a:rPr>
              <a:t>total project plan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1031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6600" b="1">
                <a:solidFill>
                  <a:srgbClr val="00A3A1"/>
                </a:solidFill>
                <a:latin typeface="Segoe UI Semibold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291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2B2B2B"/>
                </a:solidFill>
                <a:latin typeface="Segoe UI"/>
              </a:rPr>
              <a:t>of 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794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Segoe UI"/>
              </a:rPr>
              <a:t>weeks completed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182880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199" y="21031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6600" b="1">
                <a:solidFill>
                  <a:srgbClr val="FFB000"/>
                </a:solidFill>
                <a:latin typeface="Segoe UI Semibol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199" y="3291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2B2B2B"/>
                </a:solidFill>
                <a:latin typeface="Segoe UI"/>
              </a:rPr>
              <a:t>week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3794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B2B2B"/>
                </a:solidFill>
                <a:latin typeface="Segoe UI"/>
              </a:rPr>
              <a:t>possible delay (electrical)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3D91"/>
                </a:solidFill>
                <a:latin typeface="Segoe UI Semibold"/>
              </a:rPr>
              <a:t>Dock 3 closes on Apr 27 – inbound moves to Dock 2</a:t>
            </a:r>
          </a:p>
        </p:txBody>
      </p:sp>
      <p:pic>
        <p:nvPicPr>
          <p:cNvPr id="4" name="Picture 3" descr="Contos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6172200"/>
            <a:ext cx="1371600" cy="411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64592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2B2B2B"/>
                </a:solidFill>
                <a:latin typeface="Segoe UI"/>
              </a:rPr>
              <a:t>All inbound trucks use Gate 4 and Dock 2 from Apr 27.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B2B2B"/>
                </a:solidFill>
                <a:latin typeface="Segoe UI"/>
              </a:rPr>
              <a:t>Carriers are informed; two still need confirmation (Megan).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B2B2B"/>
                </a:solidFill>
                <a:latin typeface="Segoe UI"/>
              </a:rPr>
              <a:t>Extra Saturday shifts at Dock 2 for wave 1 (A items).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B2B2B"/>
                </a:solidFill>
                <a:latin typeface="Segoe UI"/>
              </a:rPr>
              <a:t>Yellow forklift floor markings in Hall 2 ordered (Riley).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3D91"/>
                </a:solidFill>
                <a:latin typeface="Segoe UI Semibold"/>
              </a:rPr>
              <a:t>East corridor escape route is closed</a:t>
            </a:r>
          </a:p>
        </p:txBody>
      </p:sp>
      <p:pic>
        <p:nvPicPr>
          <p:cNvPr id="4" name="Picture 3" descr="Contos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6172200"/>
            <a:ext cx="1371600" cy="411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64592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>
                <a:solidFill>
                  <a:srgbClr val="2B2B2B"/>
                </a:solidFill>
                <a:latin typeface="Segoe UI"/>
              </a:rPr>
              <a:t>Detour via mezzanine A and the north stairs.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B2B2B"/>
                </a:solidFill>
                <a:latin typeface="Segoe UI"/>
              </a:rPr>
              <a:t>New assembly point: C.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B2B2B"/>
                </a:solidFill>
                <a:latin typeface="Segoe UI"/>
              </a:rPr>
              <a:t>PPE required in all zones next to the construction site.</a:t>
            </a:r>
          </a:p>
          <a:p>
            <a:pPr>
              <a:spcAft>
                <a:spcPts val="800"/>
              </a:spcAft>
            </a:pPr>
            <a:r>
              <a:rPr sz="2200" b="0">
                <a:solidFill>
                  <a:srgbClr val="2B2B2B"/>
                </a:solidFill>
                <a:latin typeface="Segoe UI"/>
              </a:rPr>
              <a:t>Updated evacuation maps go up in every hall this week (Anne).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737360"/>
            <a:ext cx="3840480" cy="1828800"/>
          </a:xfrm>
          <a:prstGeom prst="roundRect">
            <a:avLst/>
          </a:prstGeom>
          <a:solidFill>
            <a:srgbClr val="FFB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200" b="1">
                <a:solidFill>
                  <a:srgbClr val="2B2B2B"/>
                </a:solidFill>
                <a:latin typeface="Segoe UI Semibold"/>
              </a:rPr>
              <a:t>Not all new maps are up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>
                <a:solidFill>
                  <a:srgbClr val="0B3D91"/>
                </a:solidFill>
                <a:latin typeface="Segoe UI Semibold"/>
              </a:rPr>
              <a:t>Next steps</a:t>
            </a:r>
          </a:p>
        </p:txBody>
      </p:sp>
      <p:pic>
        <p:nvPicPr>
          <p:cNvPr id="4" name="Picture 3" descr="Contos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6172200"/>
            <a:ext cx="1371600" cy="4114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8521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Segoe UI"/>
                        </a:rPr>
                        <a:t>What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Segoe UI"/>
                        </a:rPr>
                        <a:t>Who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Segoe UI"/>
                        </a:rPr>
                        <a:t>By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Confirm remaining carriers for Dock 2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Megan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Apr 20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Approve sprinkler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Facility + insurer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Apr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Train shift leads on new safety rules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Anne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Apr 24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Floor markings Hall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Riley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B2B2B"/>
                          </a:solidFill>
                          <a:latin typeface="Segoe UI"/>
                        </a:rPr>
                        <a:t>Apr 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