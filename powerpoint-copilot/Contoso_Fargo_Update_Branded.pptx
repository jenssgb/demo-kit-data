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oso_Brand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Contoso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2377440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10312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Segoe UI Semibold"/>
              </a:rPr>
              <a:t>Fargo expansion: where we 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Segoe UI"/>
              </a:rPr>
              <a:t>Operations update · Week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0B3D91"/>
                </a:solidFill>
                <a:latin typeface="Segoe UI Semibold"/>
              </a:rPr>
              <a:t>We are on track for go-live on Jun 22</a:t>
            </a:r>
          </a:p>
        </p:txBody>
      </p:sp>
      <p:pic>
        <p:nvPicPr>
          <p:cNvPr id="4" name="Picture 3" descr="Contos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6172200"/>
            <a:ext cx="1371600" cy="411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182880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6600" b="1">
                <a:solidFill>
                  <a:srgbClr val="0B3D91"/>
                </a:solidFill>
                <a:latin typeface="Segoe UI Semibold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B2B2B"/>
                </a:solidFill>
                <a:latin typeface="Segoe UI"/>
              </a:rPr>
              <a:t>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947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Segoe UI"/>
              </a:rPr>
              <a:t>total project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1031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6600" b="1">
                <a:solidFill>
                  <a:srgbClr val="00A3A1"/>
                </a:solidFill>
                <a:latin typeface="Segoe UI Semibold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B2B2B"/>
                </a:solidFill>
                <a:latin typeface="Segoe UI"/>
              </a:rPr>
              <a:t>of 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7947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Segoe UI"/>
              </a:rPr>
              <a:t>weeks completed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828800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199" y="21031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6600" b="1">
                <a:solidFill>
                  <a:srgbClr val="FFB000"/>
                </a:solidFill>
                <a:latin typeface="Segoe UI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199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B2B2B"/>
                </a:solidFill>
                <a:latin typeface="Segoe UI"/>
              </a:rPr>
              <a:t>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199" y="37947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B2B2B"/>
                </a:solidFill>
                <a:latin typeface="Segoe UI"/>
              </a:rPr>
              <a:t>possible delay (electrical)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0B3D91"/>
                </a:solidFill>
                <a:latin typeface="Segoe UI Semibold"/>
              </a:rPr>
              <a:t>Dock 3 closes on Apr 27 – inbound moves to Dock 2</a:t>
            </a:r>
          </a:p>
        </p:txBody>
      </p:sp>
      <p:pic>
        <p:nvPicPr>
          <p:cNvPr id="4" name="Picture 3" descr="Contos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6172200"/>
            <a:ext cx="137160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6459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B2B2B"/>
                </a:solidFill>
                <a:latin typeface="Segoe UI"/>
              </a:rPr>
              <a:t>All inbound trucks use Gate 4 and Dock 2 from Apr 27.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B2B2B"/>
                </a:solidFill>
                <a:latin typeface="Segoe UI"/>
              </a:rPr>
              <a:t>Carriers are informed; two still need confirmation (Lisa).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B2B2B"/>
                </a:solidFill>
                <a:latin typeface="Segoe UI"/>
              </a:rPr>
              <a:t>Extra Saturday shifts at Dock 2 for wave 1 (A items).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B2B2B"/>
                </a:solidFill>
                <a:latin typeface="Segoe UI"/>
              </a:rPr>
              <a:t>Yellow forklift floor markings in Hall 2 ordered (Kai).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0B3D91"/>
                </a:solidFill>
                <a:latin typeface="Segoe UI Semibold"/>
              </a:rPr>
              <a:t>East corridor escape route is closed</a:t>
            </a:r>
          </a:p>
        </p:txBody>
      </p:sp>
      <p:pic>
        <p:nvPicPr>
          <p:cNvPr id="4" name="Picture 3" descr="Contos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6172200"/>
            <a:ext cx="1371600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6459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2B2B2B"/>
                </a:solidFill>
                <a:latin typeface="Segoe UI"/>
              </a:rPr>
              <a:t>Detour via mezzanine A and the north stairs.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B2B2B"/>
                </a:solidFill>
                <a:latin typeface="Segoe UI"/>
              </a:rPr>
              <a:t>New assembly point: C.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B2B2B"/>
                </a:solidFill>
                <a:latin typeface="Segoe UI"/>
              </a:rPr>
              <a:t>PPE required in all zones next to the construction site.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2B2B2B"/>
                </a:solidFill>
                <a:latin typeface="Segoe UI"/>
              </a:rPr>
              <a:t>Updated evacuation maps go up in every hall this week (Sonia).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737360"/>
            <a:ext cx="3840480" cy="1828800"/>
          </a:xfrm>
          <a:prstGeom prst="round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2B2B2B"/>
                </a:solidFill>
                <a:latin typeface="Segoe UI Semibold"/>
              </a:rPr>
              <a:t>Not all new maps are up yet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3200" b="1">
                <a:solidFill>
                  <a:srgbClr val="0B3D91"/>
                </a:solidFill>
                <a:latin typeface="Segoe UI Semibold"/>
              </a:rPr>
              <a:t>Next steps</a:t>
            </a:r>
          </a:p>
        </p:txBody>
      </p:sp>
      <p:pic>
        <p:nvPicPr>
          <p:cNvPr id="4" name="Picture 3" descr="Contoso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6172200"/>
            <a:ext cx="1371600" cy="4114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8521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</a:rPr>
                        <a:t>What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</a:rPr>
                        <a:t>Who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</a:rPr>
                        <a:t>By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B2B"/>
                          </a:solidFill>
                          <a:latin typeface="Segoe UI"/>
                        </a:rPr>
                        <a:t>Confirm remaining carriers for Dock 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B2B"/>
                          </a:solidFill>
                          <a:latin typeface="Segoe UI"/>
                        </a:rPr>
                        <a:t>Lisa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B2B"/>
                          </a:solidFill>
                          <a:latin typeface="Segoe UI"/>
                        </a:rPr>
                        <a:t>Apr 20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B2B"/>
                          </a:solidFill>
                          <a:latin typeface="Segoe UI"/>
                        </a:rPr>
                        <a:t>Approve sprinkler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B2B"/>
                          </a:solidFill>
                          <a:latin typeface="Segoe UI"/>
                        </a:rPr>
                        <a:t>Facility + insurer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B2B"/>
                          </a:solidFill>
                          <a:latin typeface="Segoe UI"/>
                        </a:rPr>
                        <a:t>Apr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B2B"/>
                          </a:solidFill>
                          <a:latin typeface="Segoe UI"/>
                        </a:rPr>
                        <a:t>Train shift leads on new safety rules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B2B"/>
                          </a:solidFill>
                          <a:latin typeface="Segoe UI"/>
                        </a:rPr>
                        <a:t>Sonia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B2B"/>
                          </a:solidFill>
                          <a:latin typeface="Segoe UI"/>
                        </a:rPr>
                        <a:t>Apr 24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B2B"/>
                          </a:solidFill>
                          <a:latin typeface="Segoe UI"/>
                        </a:rPr>
                        <a:t>Floor markings Hall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B2B"/>
                          </a:solidFill>
                          <a:latin typeface="Segoe UI"/>
                        </a:rPr>
                        <a:t>Kai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B2B2B"/>
                          </a:solidFill>
                          <a:latin typeface="Segoe UI"/>
                        </a:rPr>
                        <a:t>Apr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